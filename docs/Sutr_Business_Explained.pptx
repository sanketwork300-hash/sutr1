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73152" cy="2377440"/>
          </a:xfrm>
          <a:prstGeom prst="rect">
            <a:avLst/>
          </a:prstGeom>
          <a:solidFill>
            <a:srgbClr val="5FB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8FD9C2"/>
                </a:solidFill>
                <a:latin typeface="Calibri"/>
              </a:rPr>
              <a:t>ESDS · SUTR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31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800" b="0" i="0">
                <a:solidFill>
                  <a:srgbClr val="FFFFFF"/>
                </a:solidFill>
                <a:latin typeface="Georgia"/>
              </a:rPr>
              <a:t>Sutr — the business, explained simply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2900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CFE3DB"/>
                </a:solidFill>
                <a:latin typeface="Calibri"/>
              </a:rPr>
              <a:t>What Sutr does, how customers in each sector actually use it, why they pay, and how ESDS earns.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6035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9DB8AE"/>
                </a:solidFill>
                <a:latin typeface="Calibri"/>
              </a:rPr>
              <a:t>Internal · for sales, pre-sales, product and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What Sutr is, in one idea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0" i="0">
                <a:solidFill>
                  <a:srgbClr val="151A17"/>
                </a:solidFill>
                <a:latin typeface="Georgia"/>
              </a:rPr>
              <a:t>Companies already have software with APIs. </a:t>
            </a:r>
            <a:r>
              <a:rPr sz="2200" b="1" i="0">
                <a:solidFill>
                  <a:srgbClr val="14584A"/>
                </a:solidFill>
                <a:latin typeface="Georgia"/>
              </a:rPr>
              <a:t>Sutr lets AI assistants use that software safely</a:t>
            </a:r>
            <a:r>
              <a:rPr sz="2200" b="0" i="0">
                <a:solidFill>
                  <a:srgbClr val="151A17"/>
                </a:solidFill>
                <a:latin typeface="Georgia"/>
              </a:rPr>
              <a:t> — without the company building a new AI connection every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5422392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5422392" cy="502920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788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5382A"/>
                </a:solidFill>
                <a:latin typeface="Calibri"/>
              </a:rPr>
              <a:t>WITHOUT SUTR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429000"/>
            <a:ext cx="49377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1000"/>
              </a:spcAft>
              <a:buClr>
                <a:srgbClr val="14584A"/>
              </a:buClr>
              <a:buChar char="•"/>
            </a:pPr>
            <a:r>
              <a:rPr sz="1600" b="0" i="0">
                <a:solidFill>
                  <a:srgbClr val="151A17"/>
                </a:solidFill>
                <a:latin typeface="Calibri"/>
              </a:rPr>
              <a:t>Each team builds its own AI connection, from scratch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Clr>
                <a:srgbClr val="14584A"/>
              </a:buClr>
              <a:buChar char="•"/>
            </a:pPr>
            <a:r>
              <a:rPr sz="1600" b="0" i="0">
                <a:solidFill>
                  <a:srgbClr val="151A17"/>
                </a:solidFill>
                <a:latin typeface="Calibri"/>
              </a:rPr>
              <a:t>Passwords to company systems end up inside AI tools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Clr>
                <a:srgbClr val="14584A"/>
              </a:buClr>
              <a:buChar char="•"/>
            </a:pPr>
            <a:r>
              <a:rPr sz="1600" b="0" i="0">
                <a:solidFill>
                  <a:srgbClr val="151A17"/>
                </a:solidFill>
                <a:latin typeface="Calibri"/>
              </a:rPr>
              <a:t>Nobody can say what the AI did, or who allowed it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Clr>
                <a:srgbClr val="14584A"/>
              </a:buClr>
              <a:buChar char="•"/>
            </a:pPr>
            <a:r>
              <a:rPr sz="1600" b="0" i="0">
                <a:solidFill>
                  <a:srgbClr val="151A17"/>
                </a:solidFill>
                <a:latin typeface="Calibri"/>
              </a:rPr>
              <a:t>Security teams block the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697480"/>
            <a:ext cx="5422392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697480"/>
            <a:ext cx="5422392" cy="502920"/>
          </a:xfrm>
          <a:prstGeom prst="rect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788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14584A"/>
                </a:solidFill>
                <a:latin typeface="Calibri"/>
              </a:rPr>
              <a:t>WITH SUTR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29000"/>
            <a:ext cx="49377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1000"/>
              </a:spcAft>
              <a:buClr>
                <a:srgbClr val="14584A"/>
              </a:buClr>
              <a:buChar char="•"/>
            </a:pPr>
            <a:r>
              <a:rPr sz="1600" b="0" i="0">
                <a:solidFill>
                  <a:srgbClr val="151A17"/>
                </a:solidFill>
                <a:latin typeface="Calibri"/>
              </a:rPr>
              <a:t>Connect a system once; every AI assistant can use it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Clr>
                <a:srgbClr val="14584A"/>
              </a:buClr>
              <a:buChar char="•"/>
            </a:pPr>
            <a:r>
              <a:rPr sz="1600" b="0" i="0">
                <a:solidFill>
                  <a:srgbClr val="151A17"/>
                </a:solidFill>
                <a:latin typeface="Calibri"/>
              </a:rPr>
              <a:t>Passwords stay inside Sutr — the AI never sees them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Clr>
                <a:srgbClr val="14584A"/>
              </a:buClr>
              <a:buChar char="•"/>
            </a:pPr>
            <a:r>
              <a:rPr sz="1600" b="0" i="0">
                <a:solidFill>
                  <a:srgbClr val="151A17"/>
                </a:solidFill>
                <a:latin typeface="Calibri"/>
              </a:rPr>
              <a:t>Every action is recorded: what, when, approved by whom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Clr>
                <a:srgbClr val="14584A"/>
              </a:buClr>
              <a:buChar char="•"/>
            </a:pPr>
            <a:r>
              <a:rPr sz="1600" b="0" i="0">
                <a:solidFill>
                  <a:srgbClr val="151A17"/>
                </a:solidFill>
                <a:latin typeface="Calibri"/>
              </a:rPr>
              <a:t>Security teams set the rules, so projects go 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Six words you need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54223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14584A"/>
                </a:solidFill>
                <a:latin typeface="Georgia"/>
              </a:rPr>
              <a:t>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21992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 i="0">
                <a:solidFill>
                  <a:srgbClr val="3C4640"/>
                </a:solidFill>
                <a:latin typeface="Calibri"/>
              </a:rPr>
              <a:t>The door one piece of software offers so other software can talk to it. Most business systems already have 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4223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14584A"/>
                </a:solidFill>
                <a:latin typeface="Georgia"/>
              </a:rPr>
              <a:t>AI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21992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 i="0">
                <a:solidFill>
                  <a:srgbClr val="3C4640"/>
                </a:solidFill>
                <a:latin typeface="Calibri"/>
              </a:rPr>
              <a:t>Claude, ChatGPT, Copilot, or a company's own chatbot — the thing staff type questions into.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72968"/>
            <a:ext cx="54223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35584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14584A"/>
                </a:solidFill>
                <a:latin typeface="Georgia"/>
              </a:rP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794759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 i="0">
                <a:solidFill>
                  <a:srgbClr val="3C4640"/>
                </a:solidFill>
                <a:latin typeface="Calibri"/>
              </a:rPr>
              <a:t>The standard plug that lets any AI assistant use outside tools. Like USB, but for AI.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172968"/>
            <a:ext cx="54223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35584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14584A"/>
                </a:solidFill>
                <a:latin typeface="Georgia"/>
              </a:rPr>
              <a:t>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94759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 i="0">
                <a:solidFill>
                  <a:srgbClr val="3C4640"/>
                </a:solidFill>
                <a:latin typeface="Calibri"/>
              </a:rPr>
              <a:t>One action an AI can take, e.g. “check order status” or “create work order”. Sutr makes tools out of APIs.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45736"/>
            <a:ext cx="54223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928616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14584A"/>
                </a:solidFill>
                <a:latin typeface="Georgia"/>
              </a:rPr>
              <a:t>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367527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 i="0">
                <a:solidFill>
                  <a:srgbClr val="3C4640"/>
                </a:solidFill>
                <a:latin typeface="Calibri"/>
              </a:rPr>
              <a:t>Per tool: runs automatically, waits for a human to approve, or is blocked completely.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745736"/>
            <a:ext cx="54223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928616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14584A"/>
                </a:solidFill>
                <a:latin typeface="Georgia"/>
              </a:rPr>
              <a:t>Audit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367527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 i="0">
                <a:solidFill>
                  <a:srgbClr val="3C4640"/>
                </a:solidFill>
                <a:latin typeface="Calibri"/>
              </a:rPr>
              <a:t>The permanent record of every tool used — who asked, who approved, exact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How Sutr is actually used — same six steps in every sector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605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828800"/>
            <a:ext cx="420624" cy="420624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92807"/>
            <a:ext cx="420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856232"/>
            <a:ext cx="26913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151A17"/>
                </a:solidFill>
                <a:latin typeface="Georgia"/>
              </a:rPr>
              <a:t>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314858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3C4640"/>
                </a:solidFill>
                <a:latin typeface="Calibri"/>
              </a:rPr>
              <a:t>Sutr runs on a server — ESDS cloud, the customer's cloud, or their own data centre.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1584" y="1600200"/>
            <a:ext cx="3605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0184" y="1828800"/>
            <a:ext cx="420624" cy="420624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184" y="1892807"/>
            <a:ext cx="420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8824" y="1856232"/>
            <a:ext cx="26913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151A17"/>
                </a:solidFill>
                <a:latin typeface="Georgia"/>
              </a:rPr>
              <a:t>Add the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0184" y="2468880"/>
            <a:ext cx="314858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3C4640"/>
                </a:solidFill>
                <a:latin typeface="Calibri"/>
              </a:rPr>
              <a:t>Upload its API description file (OpenAPI, Swagger, Postman) or pick a ready-made 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4528" y="1600200"/>
            <a:ext cx="3605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63128" y="1828800"/>
            <a:ext cx="420624" cy="420624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128" y="1892807"/>
            <a:ext cx="420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1768" y="1856232"/>
            <a:ext cx="26913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151A17"/>
                </a:solidFill>
                <a:latin typeface="Georgia"/>
              </a:rPr>
              <a:t>Store passwords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3128" y="2468880"/>
            <a:ext cx="314858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3C4640"/>
                </a:solidFill>
                <a:latin typeface="Calibri"/>
              </a:rPr>
              <a:t>The system's login keys go into Sutr. The AI never receives them.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77639"/>
            <a:ext cx="3605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270248"/>
            <a:ext cx="420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33672"/>
            <a:ext cx="26913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151A17"/>
                </a:solidFill>
                <a:latin typeface="Georgia"/>
              </a:rPr>
              <a:t>Set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46320"/>
            <a:ext cx="314858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3C4640"/>
                </a:solidFill>
                <a:latin typeface="Calibri"/>
              </a:rPr>
              <a:t>Viewing = automatic. Changing things = needs approval. Dangerous = blocked.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1584" y="3977639"/>
            <a:ext cx="3605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20184" y="4206240"/>
            <a:ext cx="420624" cy="420624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0184" y="4270248"/>
            <a:ext cx="420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68824" y="4233672"/>
            <a:ext cx="26913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151A17"/>
                </a:solidFill>
                <a:latin typeface="Georgia"/>
              </a:rPr>
              <a:t>Connect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0184" y="4846320"/>
            <a:ext cx="314858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3C4640"/>
                </a:solidFill>
                <a:latin typeface="Calibri"/>
              </a:rPr>
              <a:t>The AI assistant connects to one Sutr web address and sees only allowed tools.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34528" y="3977639"/>
            <a:ext cx="3605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63128" y="4206240"/>
            <a:ext cx="420624" cy="420624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3128" y="4270248"/>
            <a:ext cx="420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11768" y="4233672"/>
            <a:ext cx="26913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151A17"/>
                </a:solidFill>
                <a:latin typeface="Georgia"/>
              </a:rPr>
              <a:t>Watch &amp; maintain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3128" y="4846320"/>
            <a:ext cx="314858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3C4640"/>
                </a:solidFill>
                <a:latin typeface="Calibri"/>
              </a:rPr>
              <a:t>Every call logged; Sutr warns when the system's API changes; versions can roll 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What Sutr needs — and what it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5422392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WHAT A CUSTOMER MUST HAVE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9377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1200"/>
              </a:spcAft>
              <a:buClr>
                <a:srgbClr val="14584A"/>
              </a:buClr>
              <a:buChar char="•"/>
            </a:pPr>
            <a:r>
              <a:rPr sz="1550" b="1" i="0">
                <a:solidFill>
                  <a:srgbClr val="151A17"/>
                </a:solidFill>
                <a:latin typeface="Calibri"/>
              </a:rPr>
              <a:t>Systems with APIs. </a:t>
            </a:r>
            <a:r>
              <a:rPr sz="1550" b="0" i="0">
                <a:solidFill>
                  <a:srgbClr val="151A17"/>
                </a:solidFill>
                <a:latin typeface="Calibri"/>
              </a:rPr>
              <a:t>No API = nothing to connect until one is built.</a:t>
            </a:r>
          </a:p>
          <a:p>
            <a:pPr algn="l" marL="201168" indent="-201168">
              <a:lnSpc>
                <a:spcPct val="108000"/>
              </a:lnSpc>
              <a:spcAft>
                <a:spcPts val="1200"/>
              </a:spcAft>
              <a:buClr>
                <a:srgbClr val="14584A"/>
              </a:buClr>
              <a:buChar char="•"/>
            </a:pPr>
            <a:r>
              <a:rPr sz="1550" b="1" i="0">
                <a:solidFill>
                  <a:srgbClr val="151A17"/>
                </a:solidFill>
                <a:latin typeface="Calibri"/>
              </a:rPr>
              <a:t>The API description file </a:t>
            </a:r>
            <a:r>
              <a:rPr sz="1550" b="0" i="0">
                <a:solidFill>
                  <a:srgbClr val="151A17"/>
                </a:solidFill>
                <a:latin typeface="Calibri"/>
              </a:rPr>
              <a:t>or access to the API's documentation.</a:t>
            </a:r>
          </a:p>
          <a:p>
            <a:pPr algn="l" marL="201168" indent="-201168">
              <a:lnSpc>
                <a:spcPct val="108000"/>
              </a:lnSpc>
              <a:spcAft>
                <a:spcPts val="1200"/>
              </a:spcAft>
              <a:buClr>
                <a:srgbClr val="14584A"/>
              </a:buClr>
              <a:buChar char="•"/>
            </a:pPr>
            <a:r>
              <a:rPr sz="1550" b="1" i="0">
                <a:solidFill>
                  <a:srgbClr val="151A17"/>
                </a:solidFill>
                <a:latin typeface="Calibri"/>
              </a:rPr>
              <a:t>Login keys </a:t>
            </a:r>
            <a:r>
              <a:rPr sz="1550" b="0" i="0">
                <a:solidFill>
                  <a:srgbClr val="151A17"/>
                </a:solidFill>
                <a:latin typeface="Calibri"/>
              </a:rPr>
              <a:t>for those systems, owned by the customer.</a:t>
            </a:r>
          </a:p>
          <a:p>
            <a:pPr algn="l" marL="201168" indent="-201168">
              <a:lnSpc>
                <a:spcPct val="108000"/>
              </a:lnSpc>
              <a:spcAft>
                <a:spcPts val="1200"/>
              </a:spcAft>
              <a:buClr>
                <a:srgbClr val="14584A"/>
              </a:buClr>
              <a:buChar char="•"/>
            </a:pPr>
            <a:r>
              <a:rPr sz="1550" b="1" i="0">
                <a:solidFill>
                  <a:srgbClr val="151A17"/>
                </a:solidFill>
                <a:latin typeface="Calibri"/>
              </a:rPr>
              <a:t>Someone to set the rules </a:t>
            </a:r>
            <a:r>
              <a:rPr sz="1550" b="0" i="0">
                <a:solidFill>
                  <a:srgbClr val="151A17"/>
                </a:solidFill>
                <a:latin typeface="Calibri"/>
              </a:rPr>
              <a:t>— usually IT with the security team.</a:t>
            </a:r>
          </a:p>
          <a:p>
            <a:pPr algn="l" marL="201168" indent="-201168">
              <a:lnSpc>
                <a:spcPct val="108000"/>
              </a:lnSpc>
              <a:spcAft>
                <a:spcPts val="1200"/>
              </a:spcAft>
              <a:buClr>
                <a:srgbClr val="14584A"/>
              </a:buClr>
              <a:buChar char="•"/>
            </a:pPr>
            <a:r>
              <a:rPr sz="1550" b="1" i="0">
                <a:solidFill>
                  <a:srgbClr val="151A17"/>
                </a:solidFill>
                <a:latin typeface="Calibri"/>
              </a:rPr>
              <a:t>An AI assistant </a:t>
            </a:r>
            <a:r>
              <a:rPr sz="1550" b="0" i="0">
                <a:solidFill>
                  <a:srgbClr val="151A17"/>
                </a:solidFill>
                <a:latin typeface="Calibri"/>
              </a:rPr>
              <a:t>their staff already use or plan to 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422392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95382A"/>
                </a:solidFill>
                <a:latin typeface="Calibri"/>
              </a:rPr>
              <a:t>WHAT SUTR IS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49377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1200"/>
              </a:spcAft>
              <a:buClr>
                <a:srgbClr val="14584A"/>
              </a:buClr>
              <a:buChar char="•"/>
            </a:pPr>
            <a:r>
              <a:rPr sz="1550" b="1" i="0">
                <a:solidFill>
                  <a:srgbClr val="151A17"/>
                </a:solidFill>
                <a:latin typeface="Calibri"/>
              </a:rPr>
              <a:t>Not an AI model or chatbot. </a:t>
            </a:r>
            <a:r>
              <a:rPr sz="1550" b="0" i="0">
                <a:solidFill>
                  <a:srgbClr val="151A17"/>
                </a:solidFill>
                <a:latin typeface="Calibri"/>
              </a:rPr>
              <a:t>It connects AI to systems; the AI comes from elsewhere.</a:t>
            </a:r>
          </a:p>
          <a:p>
            <a:pPr algn="l" marL="201168" indent="-201168">
              <a:lnSpc>
                <a:spcPct val="108000"/>
              </a:lnSpc>
              <a:spcAft>
                <a:spcPts val="1200"/>
              </a:spcAft>
              <a:buClr>
                <a:srgbClr val="14584A"/>
              </a:buClr>
              <a:buChar char="•"/>
            </a:pPr>
            <a:r>
              <a:rPr sz="1550" b="1" i="0">
                <a:solidFill>
                  <a:srgbClr val="151A17"/>
                </a:solidFill>
                <a:latin typeface="Calibri"/>
              </a:rPr>
              <a:t>Not a replacement </a:t>
            </a:r>
            <a:r>
              <a:rPr sz="1550" b="0" i="0">
                <a:solidFill>
                  <a:srgbClr val="151A17"/>
                </a:solidFill>
                <a:latin typeface="Calibri"/>
              </a:rPr>
              <a:t>for ERP, CRM or core banking. It sits on top of them.</a:t>
            </a:r>
          </a:p>
          <a:p>
            <a:pPr algn="l" marL="201168" indent="-201168">
              <a:lnSpc>
                <a:spcPct val="108000"/>
              </a:lnSpc>
              <a:spcAft>
                <a:spcPts val="1200"/>
              </a:spcAft>
              <a:buClr>
                <a:srgbClr val="14584A"/>
              </a:buClr>
              <a:buChar char="•"/>
            </a:pPr>
            <a:r>
              <a:rPr sz="1550" b="1" i="0">
                <a:solidFill>
                  <a:srgbClr val="151A17"/>
                </a:solidFill>
                <a:latin typeface="Calibri"/>
              </a:rPr>
              <a:t>Not an API builder </a:t>
            </a:r>
            <a:r>
              <a:rPr sz="1550" b="0" i="0">
                <a:solidFill>
                  <a:srgbClr val="151A17"/>
                </a:solidFill>
                <a:latin typeface="Calibri"/>
              </a:rPr>
              <a:t>for old systems that have no API.</a:t>
            </a:r>
          </a:p>
          <a:p>
            <a:pPr algn="l" marL="201168" indent="-201168">
              <a:lnSpc>
                <a:spcPct val="108000"/>
              </a:lnSpc>
              <a:spcAft>
                <a:spcPts val="1200"/>
              </a:spcAft>
              <a:buClr>
                <a:srgbClr val="14584A"/>
              </a:buClr>
              <a:buChar char="•"/>
            </a:pPr>
            <a:r>
              <a:rPr sz="1550" b="1" i="0">
                <a:solidFill>
                  <a:srgbClr val="151A17"/>
                </a:solidFill>
                <a:latin typeface="Calibri"/>
              </a:rPr>
              <a:t>Not a compliance certificate. </a:t>
            </a:r>
            <a:r>
              <a:rPr sz="1550" b="0" i="0">
                <a:solidFill>
                  <a:srgbClr val="151A17"/>
                </a:solidFill>
                <a:latin typeface="Calibri"/>
              </a:rPr>
              <a:t>It helps with control and records; it doesn't make anyone compliant.</a:t>
            </a:r>
          </a:p>
          <a:p>
            <a:pPr algn="l" marL="201168" indent="-201168">
              <a:lnSpc>
                <a:spcPct val="108000"/>
              </a:lnSpc>
              <a:spcAft>
                <a:spcPts val="1200"/>
              </a:spcAft>
              <a:buClr>
                <a:srgbClr val="14584A"/>
              </a:buClr>
              <a:buChar char="•"/>
            </a:pPr>
            <a:r>
              <a:rPr sz="1550" b="1" i="0">
                <a:solidFill>
                  <a:srgbClr val="151A17"/>
                </a:solidFill>
                <a:latin typeface="Calibri"/>
              </a:rPr>
              <a:t>Not benchmarked yet. </a:t>
            </a:r>
            <a:r>
              <a:rPr sz="1550" b="0" i="0">
                <a:solidFill>
                  <a:srgbClr val="151A17"/>
                </a:solidFill>
                <a:latin typeface="Calibri"/>
              </a:rPr>
              <a:t>Quote no speed or capacity numbers.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Where the tools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3C4640"/>
                </a:solidFill>
                <a:latin typeface="Calibri"/>
              </a:rPr>
              <a:t>Two options. Most customers start with the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542239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240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14584A"/>
                </a:solidFill>
                <a:latin typeface="Georgia"/>
              </a:rPr>
              <a:t>1 · Inside Sutr itself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3C4640"/>
                </a:solidFill>
                <a:latin typeface="Calibri"/>
              </a:rPr>
              <a:t>Tools are served directly by the Sutr server. Nothing else to deploy. If Sutr is installed on an ESDS cloud VM, the tools run on ESDS cloud.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03120"/>
            <a:ext cx="542239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14584A"/>
                </a:solidFill>
                <a:latin typeface="Georgia"/>
              </a:rPr>
              <a:t>2 · As a separate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3C4640"/>
                </a:solidFill>
                <a:latin typeface="Calibri"/>
              </a:rPr>
              <a:t>Sutr packages a system's tools as their own small server and deploys it to a cloud — useful for isolation or a customer's own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SEPARATE-SERVER TARGETS BUILT TODAY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97680"/>
            <a:ext cx="1109167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891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51A17"/>
                </a:solidFill>
                <a:latin typeface="Calibri"/>
              </a:rPr>
              <a:t>Docker on the Sutr machine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370832"/>
            <a:ext cx="3977639" cy="274320"/>
          </a:xfrm>
          <a:prstGeom prst="roundRect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4398264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14584A"/>
                </a:solidFill>
                <a:latin typeface="Calibri"/>
              </a:rPr>
              <a:t>Works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73168"/>
            <a:ext cx="11091672" cy="420624"/>
          </a:xfrm>
          <a:prstGeom prst="rect">
            <a:avLst/>
          </a:prstGeom>
          <a:solidFill>
            <a:srgbClr val="FAFBF9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646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51A17"/>
                </a:solidFill>
                <a:latin typeface="Calibri"/>
              </a:rPr>
              <a:t>Google Cloud Run · Azure Container Apps · AWS App Runner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4846320"/>
            <a:ext cx="3977639" cy="274320"/>
          </a:xfrm>
          <a:prstGeom prst="roundRect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4873752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14584A"/>
                </a:solidFill>
                <a:latin typeface="Calibri"/>
              </a:rPr>
              <a:t>Built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48656"/>
            <a:ext cx="1109167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4009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51A17"/>
                </a:solidFill>
                <a:latin typeface="Calibri"/>
              </a:rPr>
              <a:t>Kubernetes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5321808"/>
            <a:ext cx="3977639" cy="274320"/>
          </a:xfrm>
          <a:prstGeom prst="roundRect">
            <a:avLst/>
          </a:prstGeom>
          <a:solidFill>
            <a:srgbClr val="F6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534924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87610F"/>
                </a:solidFill>
                <a:latin typeface="Calibri"/>
              </a:rPr>
              <a:t>Built, not yet tested on a real cluster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724144"/>
            <a:ext cx="11091672" cy="420624"/>
          </a:xfrm>
          <a:prstGeom prst="rect">
            <a:avLst/>
          </a:prstGeom>
          <a:solidFill>
            <a:srgbClr val="FAFBF9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15583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51A17"/>
                </a:solidFill>
                <a:latin typeface="Calibri"/>
              </a:rPr>
              <a:t>ESDS / Swaraj Cloud as automatic target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5797296"/>
            <a:ext cx="3977639" cy="274320"/>
          </a:xfrm>
          <a:prstGeom prst="round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5824728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95382A"/>
                </a:solidFill>
                <a:latin typeface="Calibri"/>
              </a:rPr>
              <a:t>Waiting for ESDS cloud API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How ESDS makes money from Sutr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60578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64008" cy="18288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31485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151A17"/>
                </a:solidFill>
                <a:latin typeface="Georgia"/>
              </a:rPr>
              <a:t>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286000"/>
            <a:ext cx="31485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3C4640"/>
                </a:solidFill>
                <a:latin typeface="Calibri"/>
              </a:rPr>
              <a:t>Yearly fee per customer organisation, priced by number of systems and teams.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1584" y="1600200"/>
            <a:ext cx="360578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1584" y="1600200"/>
            <a:ext cx="64008" cy="18288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5904" y="1801368"/>
            <a:ext cx="31485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151A17"/>
                </a:solidFill>
                <a:latin typeface="Georgia"/>
              </a:rPr>
              <a:t>Hosting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5904" y="2286000"/>
            <a:ext cx="31485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3C4640"/>
                </a:solidFill>
                <a:latin typeface="Calibri"/>
              </a:rPr>
              <a:t>Sutr and the tools run on ESDS cloud — adds cloud consumption to the account.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4528" y="1600200"/>
            <a:ext cx="360578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4528" y="1600200"/>
            <a:ext cx="64008" cy="18288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8848" y="1801368"/>
            <a:ext cx="31485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151A17"/>
                </a:solidFill>
                <a:latin typeface="Georgia"/>
              </a:rPr>
              <a:t>Setup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8848" y="2286000"/>
            <a:ext cx="31485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3C4640"/>
                </a:solidFill>
                <a:latin typeface="Calibri"/>
              </a:rPr>
              <a:t>One-time fee to connect each customer system and configure its rules.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11880"/>
            <a:ext cx="360578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611880"/>
            <a:ext cx="64008" cy="18288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813048"/>
            <a:ext cx="31485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151A17"/>
                </a:solidFill>
                <a:latin typeface="Georgia"/>
              </a:rPr>
              <a:t>Managed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297680"/>
            <a:ext cx="31485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3C4640"/>
                </a:solidFill>
                <a:latin typeface="Calibri"/>
              </a:rPr>
              <a:t>Monthly fee for ESDS to run, update and support Sutr for the customer.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1584" y="3611880"/>
            <a:ext cx="360578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1584" y="3611880"/>
            <a:ext cx="64008" cy="18288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5904" y="3813048"/>
            <a:ext cx="31485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151A17"/>
                </a:solidFill>
                <a:latin typeface="Georgia"/>
              </a:rPr>
              <a:t>Usage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5904" y="4297680"/>
            <a:ext cx="31485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3C4640"/>
                </a:solidFill>
                <a:latin typeface="Calibri"/>
              </a:rPr>
              <a:t>Charges when AI tool use goes beyond the plan's included amount.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4528" y="3611880"/>
            <a:ext cx="360578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4528" y="3611880"/>
            <a:ext cx="64008" cy="18288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8848" y="3813048"/>
            <a:ext cx="31485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151A17"/>
                </a:solidFill>
                <a:latin typeface="Georgia"/>
              </a:rPr>
              <a:t>Bundles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8848" y="4297680"/>
            <a:ext cx="31485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3C4640"/>
                </a:solidFill>
                <a:latin typeface="Calibri"/>
              </a:rPr>
              <a:t>Sutr packaged with ESDS services and, later, the ML engineering agent.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 i="1">
                <a:solidFill>
                  <a:srgbClr val="6C766F"/>
                </a:solidFill>
                <a:latin typeface="Calibri"/>
              </a:rPr>
              <a:t>Prices are set per deal against the ESDS price book. Sutr records usage for billing; it does not collect payments itself.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Which sectors, in what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3C4640"/>
                </a:solidFill>
                <a:latin typeface="Calibri"/>
              </a:rPr>
              <a:t>Start where customers already have APIs, many systems to connect, and care about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3575304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3575304" cy="548640"/>
          </a:xfrm>
          <a:prstGeom prst="rect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258568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4584A"/>
                </a:solidFill>
                <a:latin typeface="Calibri"/>
              </a:rPr>
              <a:t>START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926080"/>
            <a:ext cx="311810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700" b="0" i="0">
                <a:solidFill>
                  <a:srgbClr val="151A17"/>
                </a:solidFill>
                <a:latin typeface="Georgia"/>
              </a:rPr>
              <a:t>A · Cloud providers — ESDS itself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700" b="0" i="0">
                <a:solidFill>
                  <a:srgbClr val="151A17"/>
                </a:solidFill>
                <a:latin typeface="Georgia"/>
              </a:rPr>
              <a:t>B · IT services &amp; system integrators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700" b="0" i="0">
                <a:solidFill>
                  <a:srgbClr val="151A17"/>
                </a:solidFill>
                <a:latin typeface="Georgia"/>
              </a:rPr>
              <a:t>C · SaaS software companies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440680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1">
                <a:solidFill>
                  <a:srgbClr val="6C766F"/>
                </a:solidFill>
                <a:latin typeface="Calibri"/>
              </a:rPr>
              <a:t>Quick fit, shorter buying cycles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6824" y="2148840"/>
            <a:ext cx="3575304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6824" y="2148840"/>
            <a:ext cx="3575304" cy="548640"/>
          </a:xfrm>
          <a:prstGeom prst="rect">
            <a:avLst/>
          </a:prstGeom>
          <a:solidFill>
            <a:srgbClr val="F6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258568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87610F"/>
                </a:solidFill>
                <a:latin typeface="Calibri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926080"/>
            <a:ext cx="311810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700" b="0" i="0">
                <a:solidFill>
                  <a:srgbClr val="151A17"/>
                </a:solidFill>
                <a:latin typeface="Georgia"/>
              </a:rPr>
              <a:t>D · Banks, NBFCs, insurance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700" b="0" i="0">
                <a:solidFill>
                  <a:srgbClr val="151A17"/>
                </a:solidFill>
                <a:latin typeface="Georgia"/>
              </a:rPr>
              <a:t>E · Manufacturing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5440680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1">
                <a:solidFill>
                  <a:srgbClr val="6C766F"/>
                </a:solidFill>
                <a:latin typeface="Calibri"/>
              </a:rPr>
              <a:t>High value, longer security reviews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2148840"/>
            <a:ext cx="3575304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2148840"/>
            <a:ext cx="3575304" cy="548640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258568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95382A"/>
                </a:solidFill>
                <a:latin typeface="Calibri"/>
              </a:rPr>
              <a:t>LATER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2926080"/>
            <a:ext cx="311810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700" b="0" i="0">
                <a:solidFill>
                  <a:srgbClr val="151A17"/>
                </a:solidFill>
                <a:latin typeface="Georgia"/>
              </a:rPr>
              <a:t>F · Healthcare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700" b="0" i="0">
                <a:solidFill>
                  <a:srgbClr val="151A17"/>
                </a:solidFill>
                <a:latin typeface="Georgia"/>
              </a:rPr>
              <a:t>G · Logistics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700" b="0" i="0">
                <a:solidFill>
                  <a:srgbClr val="151A17"/>
                </a:solidFill>
                <a:latin typeface="Georgia"/>
              </a:rPr>
              <a:t>H · Retail &amp; e-commerce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5440680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1">
                <a:solidFill>
                  <a:srgbClr val="6C766F"/>
                </a:solidFill>
                <a:latin typeface="Calibri"/>
              </a:rPr>
              <a:t>Clear use, more varied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 A · HOW SUTR IS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Cloud &amp; IT infrastructure providers — ESDS itself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329184"/>
            <a:ext cx="1399032" cy="274320"/>
          </a:xfrm>
          <a:prstGeom prst="roundRect">
            <a:avLst>
              <a:gd name="adj" fmla="val 20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36118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14584A"/>
                </a:solidFill>
                <a:latin typeface="Calibri"/>
              </a:rPr>
              <a:t>START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THEY 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51A17"/>
                </a:solidFill>
                <a:latin typeface="Calibri"/>
              </a:rPr>
              <a:t>Companies renting out servers, storage and data-centre services — including ESDS, which is Sutr's first customer.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THEIR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5394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ESDS already has APIs for servers, monitoring, billing and tickets — built for apps, not AI</a:t>
            </a:r>
          </a:p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Customers and staff want to simply ask, “which of my servers are overloaded?”</a:t>
            </a:r>
          </a:p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If every team builds its own AI connection, work is duplicated and security gets harder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81328"/>
            <a:ext cx="5376672" cy="3017520"/>
          </a:xfrm>
          <a:prstGeom prst="rect">
            <a:avLst/>
          </a:prstGeom>
          <a:solidFill>
            <a:srgbClr val="E3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184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DOES 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3852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Buys Sutr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38528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ESDS (for its own platform)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4602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Runs Sutr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446020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ESDS platform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5351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Systems connected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953512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ESDS cloud, monitoring, billing, support tickets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61004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Uses the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461004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ESDS ops &amp; support teams; ESDS customers' engineers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68496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Runs 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968496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ESDS data centres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902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IT WORKS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4944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ESDS product teams share each service's API document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62706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9010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09010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6210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Sutr turns every service action into a tool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6772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23076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3076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0276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Rules: viewing is automatic; scaling or restarting needs approval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90838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137142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7142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4342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Customers' AI assistants connect and ask in plain language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 A · WHY THEY 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Cloud &amp; IT infrastructure providers — ESDS itself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329184"/>
            <a:ext cx="1399032" cy="274320"/>
          </a:xfrm>
          <a:prstGeom prst="roundRect">
            <a:avLst>
              <a:gd name="adj" fmla="val 20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36118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14584A"/>
                </a:solidFill>
                <a:latin typeface="Calibri"/>
              </a:rPr>
              <a:t>START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WHAT THEY CAN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Find unhealthy servers and propose a fix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Create a test environment, after approval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Support explains why a customer's service is down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Daily summary of repeat incidents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WHY THEY 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A premium “AI-ready cloud” feature competitors don't offer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Fewer routine support tickets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Customers get more out of services they already pay for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ESDS EARNS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Add-on fee on existing cloud contracts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Lower support cost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Customers less likely to move to another cloud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36592"/>
            <a:ext cx="11091672" cy="77724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36592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1">
                <a:solidFill>
                  <a:srgbClr val="FFFFFF"/>
                </a:solidFill>
                <a:latin typeface="Georgia"/>
              </a:rPr>
              <a:t>“Talk to your ESDS cloud in plain language — safely.”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50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TALK 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16168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Internal: CTO · Head of Cloud Platform · Head of AIOps · Product Head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5623560"/>
            <a:ext cx="5376672" cy="749808"/>
          </a:xfrm>
          <a:prstGeom prst="rect">
            <a:avLst/>
          </a:prstGeom>
          <a:solidFill>
            <a:srgbClr val="F6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669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87610F"/>
                </a:solidFill>
                <a:latin typeface="Calibri"/>
              </a:rPr>
              <a:t>BE CAREFUL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925312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151A17"/>
                </a:solidFill>
                <a:latin typeface="Calibri"/>
              </a:rPr>
              <a:t>Each ESDS product team must provide written API documentation — Sutr will not guess an 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 B · HOW SUTR IS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IT services companies &amp; system integrators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329184"/>
            <a:ext cx="1399032" cy="274320"/>
          </a:xfrm>
          <a:prstGeom prst="roundRect">
            <a:avLst>
              <a:gd name="adj" fmla="val 20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36118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14584A"/>
                </a:solidFill>
                <a:latin typeface="Calibri"/>
              </a:rPr>
              <a:t>START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THEY 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51A17"/>
                </a:solidFill>
                <a:latin typeface="Calibri"/>
              </a:rPr>
              <a:t>IT firms that build and run software for other businesses — large national players and smaller regional firms.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THEIR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5394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Their clients now want AI assistants connected to their CRM, ERP and other systems</a:t>
            </a:r>
          </a:p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The firm rebuilds the same kind of AI connection for every client</a:t>
            </a:r>
          </a:p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Repeated work eats project time and profit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81328"/>
            <a:ext cx="5376672" cy="3017520"/>
          </a:xfrm>
          <a:prstGeom prst="rect">
            <a:avLst/>
          </a:prstGeom>
          <a:solidFill>
            <a:srgbClr val="E3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184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DOES 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3852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Buys Sutr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38528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The IT firm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4602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Runs Sutr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446020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The IT firm's engineers (or ESDS, as a managed service)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5351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Systems connected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953512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Each client's own systems — CRM, ERP, ticketing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61004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Uses the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461004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The client's staff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68496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Runs 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968496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ESDS cloud VM (recommended), client's cloud, or firm's servers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902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IT WORKS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4944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Create a separate space for each client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62706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9010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09010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6210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Add the client's API description file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6772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23076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3076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0276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Store the client's login keys; set the rules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90838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137142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7142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4342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The client's AI assistant connects to its own address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 B · WHY THEY 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IT services companies &amp; system integrators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329184"/>
            <a:ext cx="1399032" cy="274320"/>
          </a:xfrm>
          <a:prstGeom prst="roundRect">
            <a:avLst>
              <a:gd name="adj" fmla="val 20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36118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14584A"/>
                </a:solidFill>
                <a:latin typeface="Calibri"/>
              </a:rPr>
              <a:t>START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WHAT THEY CAN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Reuse a connection built for one client with the next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Give all developers one standard way to build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Sell “we run your AI connections” monthly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WHY THEY 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A growing library of connections the firm owns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Clients' data and passwords never mix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Less repeat work, more profit per project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ESDS EARNS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Subscription from the IT firm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Hosting all their clients' tools on ESDS cloud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Managed service if ESDS runs it for them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36592"/>
            <a:ext cx="11091672" cy="77724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36592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1">
                <a:solidFill>
                  <a:srgbClr val="FFFFFF"/>
                </a:solidFill>
                <a:latin typeface="Georgia"/>
              </a:rPr>
              <a:t>“Build each AI connection once — reuse it for every client.”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50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TALK 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16168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Head of AI Practice · Cloud Practice Head · Delivery Head (owns project cost)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5623560"/>
            <a:ext cx="5376672" cy="749808"/>
          </a:xfrm>
          <a:prstGeom prst="rect">
            <a:avLst/>
          </a:prstGeom>
          <a:solidFill>
            <a:srgbClr val="F6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669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87610F"/>
                </a:solidFill>
                <a:latin typeface="Calibri"/>
              </a:rPr>
              <a:t>BE CAREFUL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925312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151A17"/>
                </a:solidFill>
                <a:latin typeface="Calibri"/>
              </a:rPr>
              <a:t>Client login keys belong to the client — agree in the contract who controls and can revoke them.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 C · HOW SUTR IS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SaaS &amp; software product companies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329184"/>
            <a:ext cx="1399032" cy="274320"/>
          </a:xfrm>
          <a:prstGeom prst="roundRect">
            <a:avLst>
              <a:gd name="adj" fmla="val 20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36118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14584A"/>
                </a:solidFill>
                <a:latin typeface="Calibri"/>
              </a:rPr>
              <a:t>START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THEY 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51A17"/>
                </a:solidFill>
                <a:latin typeface="Calibri"/>
              </a:rPr>
              <a:t>Companies selling software by subscription online — CRM, HR, accounting, project management, DevOps tools.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THEIR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5394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Their customers want to use the product from inside AI assistants</a:t>
            </a:r>
          </a:p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Building, hosting and securing that themselves needs a dedicated team</a:t>
            </a:r>
          </a:p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Larger competitors already offer AI access — pressure to keep 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81328"/>
            <a:ext cx="5376672" cy="3017520"/>
          </a:xfrm>
          <a:prstGeom prst="rect">
            <a:avLst/>
          </a:prstGeom>
          <a:solidFill>
            <a:srgbClr val="E3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184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DOES 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3852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Buys Sutr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38528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The SaaS company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4602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Runs Sutr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446020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The SaaS company, or ESDS as managed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5351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Systems connected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953512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The SaaS company's own product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61004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Uses the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461004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The SaaS company's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68496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Runs 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968496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ESDS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902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IT WORKS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4944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The SaaS company adds its product API file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62706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9010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09010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6210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Sutr creates tools for the product's actions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6772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23076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3076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0276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Each end customer connects with their own account and sees only their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90838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137142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7142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4342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Customers use the product from their AI assistant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 C · WHY THEY 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SaaS &amp; software product companies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329184"/>
            <a:ext cx="1399032" cy="274320"/>
          </a:xfrm>
          <a:prstGeom prst="roundRect">
            <a:avLst>
              <a:gd name="adj" fmla="val 20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36118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14584A"/>
                </a:solidFill>
                <a:latin typeface="Calibri"/>
              </a:rPr>
              <a:t>START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WHAT THEY CAN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Customers ask AI to “find overdue tasks and create follow-ups”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Offer AI access as a paid add-on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Launch quickly without hiring a new team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WHY THEY 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AI access without building the infrastructure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Each customer's data kept apart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Usage recorded per customer — a basis for pricing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ESDS EARNS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Subscription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Hosting on ESDS cloud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Usage charges that grow as their customers use AI more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36592"/>
            <a:ext cx="11091672" cy="77724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36592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1">
                <a:solidFill>
                  <a:srgbClr val="FFFFFF"/>
                </a:solidFill>
                <a:latin typeface="Georgia"/>
              </a:rPr>
              <a:t>“Your product, usable from any AI assistant — without building it yourself.”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50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TALK 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16168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CTO / VP Engineering · Head of Platform · Product Head (decides paid tiers)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5623560"/>
            <a:ext cx="5376672" cy="749808"/>
          </a:xfrm>
          <a:prstGeom prst="rect">
            <a:avLst/>
          </a:prstGeom>
          <a:solidFill>
            <a:srgbClr val="F6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669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87610F"/>
                </a:solidFill>
                <a:latin typeface="Calibri"/>
              </a:rPr>
              <a:t>BE CAREFUL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925312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151A17"/>
                </a:solidFill>
                <a:latin typeface="Calibri"/>
              </a:rPr>
              <a:t>Sutr records usage but does not collect money — the SaaS company bills its own customers.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 D · HOW SUTR IS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Banks, NBFCs, insurance &amp; fintech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329184"/>
            <a:ext cx="1399032" cy="274320"/>
          </a:xfrm>
          <a:prstGeom prst="roundRect">
            <a:avLst>
              <a:gd name="adj" fmla="val 20000"/>
            </a:avLst>
          </a:prstGeom>
          <a:solidFill>
            <a:srgbClr val="F6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36118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87610F"/>
                </a:solidFill>
                <a:latin typeface="Calibri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THEY 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51A17"/>
                </a:solidFill>
                <a:latin typeface="Calibri"/>
              </a:rPr>
              <a:t>Banks, lending companies, insurers and fintechs — organisations where a wrong action can move money.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THEIR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5394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Staff switch between core banking, loans, CRM, claims and KYC systems all day</a:t>
            </a:r>
          </a:p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Giving AI direct access to money systems is too risky</a:t>
            </a:r>
          </a:p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Security and audit teams stop AI projects before they 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81328"/>
            <a:ext cx="5376672" cy="3017520"/>
          </a:xfrm>
          <a:prstGeom prst="rect">
            <a:avLst/>
          </a:prstGeom>
          <a:solidFill>
            <a:srgbClr val="E3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184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DOES 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3852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Buys Sutr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38528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The bank or insurer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4602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Runs Sutr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446020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Bank IT team, or ESDS as managed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5351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Systems connected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953512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Core banking, loan system, CRM, claims, KYC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61004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Uses the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461004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Relationship managers, loan ops, claims teams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68496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Runs 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968496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Bank's own data centre or ESDS private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902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IT WORKS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4944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Connect internal system APIs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62706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9010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09010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6210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Looking up information runs automatically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6772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23076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3076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0276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Any change waits for an officer to approve the exact values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90838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137142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7142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4342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Everything recorded for auditors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 D · WHY THEY 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Banks, NBFCs, insurance &amp; fintech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329184"/>
            <a:ext cx="1399032" cy="274320"/>
          </a:xfrm>
          <a:prstGeom prst="roundRect">
            <a:avLst>
              <a:gd name="adj" fmla="val 20000"/>
            </a:avLst>
          </a:prstGeom>
          <a:solidFill>
            <a:srgbClr val="F6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36118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87610F"/>
                </a:solidFill>
                <a:latin typeface="Calibri"/>
              </a:rPr>
              <a:t>NEXT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WHAT THEY CAN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Relationship manager gets a customer summary and open requests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Loan team finds missing documents, creates follow-ups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Claims team sees pending documents, drafts replies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WHY THEY 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AI never holds the bank's passwords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Approved amount or account can't be changed after approval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Clear record of who asked and who approved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ESDS EARNS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Platform subscription (higher value)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Private hosting in ESDS data centres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Setup services for each internal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36592"/>
            <a:ext cx="11091672" cy="77724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36592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1">
                <a:solidFill>
                  <a:srgbClr val="FFFFFF"/>
                </a:solidFill>
                <a:latin typeface="Georgia"/>
              </a:rPr>
              <a:t>“Let AI help your staff — without giving it the keys to the bank.”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50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TALK 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16168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CIO / CTO · Head of Digital · Head of Operations · CISO (security must agree)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5623560"/>
            <a:ext cx="5376672" cy="749808"/>
          </a:xfrm>
          <a:prstGeom prst="rect">
            <a:avLst/>
          </a:prstGeom>
          <a:solidFill>
            <a:srgbClr val="F6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669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87610F"/>
                </a:solidFill>
                <a:latin typeface="Calibri"/>
              </a:rPr>
              <a:t>BE CAREFUL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925312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151A17"/>
                </a:solidFill>
                <a:latin typeface="Calibri"/>
              </a:rPr>
              <a:t>Never say “RBI compliant”. Very old systems without APIs need an API layer first.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 E · HOW SUTR IS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Manufacturing &amp; industrial companies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329184"/>
            <a:ext cx="1399032" cy="274320"/>
          </a:xfrm>
          <a:prstGeom prst="roundRect">
            <a:avLst>
              <a:gd name="adj" fmla="val 20000"/>
            </a:avLst>
          </a:prstGeom>
          <a:solidFill>
            <a:srgbClr val="F6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36118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87610F"/>
                </a:solidFill>
                <a:latin typeface="Calibri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THEY 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51A17"/>
                </a:solidFill>
                <a:latin typeface="Calibri"/>
              </a:rPr>
              <a:t>Factories and industrial firms running production lines, maintenance teams and stores.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THEIR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5394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Information is split across ERP, maintenance, inventory, quality and machine monitoring</a:t>
            </a:r>
          </a:p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Engineers check several screens before they can act</a:t>
            </a:r>
          </a:p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Every minute of downtime costs money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81328"/>
            <a:ext cx="5376672" cy="3017520"/>
          </a:xfrm>
          <a:prstGeom prst="rect">
            <a:avLst/>
          </a:prstGeom>
          <a:solidFill>
            <a:srgbClr val="E3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184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DOES 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3852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Buys Sutr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38528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The manufacturer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4602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Runs Sutr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446020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Company IT / digital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5351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Systems connected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953512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ERP (e.g. SAP), maintenance, inventory, quality; machine data view-only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61004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Uses the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461004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Plant managers, maintenance engineers, procurement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68496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Runs 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968496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Company's own servers or ESDS private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902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IT WORKS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4944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Connect business system APIs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62706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9010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09010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6210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Machine monitoring data: view only, never control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6772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23076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3076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0276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AI prepares a work order or purchase request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90838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137142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7142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4342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A supervisor approves 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 E · WHY THEY 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Manufacturing &amp; industrial companies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329184"/>
            <a:ext cx="1399032" cy="274320"/>
          </a:xfrm>
          <a:prstGeom prst="roundRect">
            <a:avLst>
              <a:gd name="adj" fmla="val 20000"/>
            </a:avLst>
          </a:prstGeom>
          <a:solidFill>
            <a:srgbClr val="F6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36118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87610F"/>
                </a:solidFill>
                <a:latin typeface="Calibri"/>
              </a:rPr>
              <a:t>NEXT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WHAT THEY CAN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Find machines with repeat alerts; raise a work order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Compare today's output with plan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List low stock; prepare a purchase request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WHY THEY 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Faster investigation when a line stops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AI can look at machines but never control them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One setup instead of an AI project per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ESDS EARNS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Subscription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Private cloud hosting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Setup services for ERP and maintenance systems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36592"/>
            <a:ext cx="11091672" cy="77724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36592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1">
                <a:solidFill>
                  <a:srgbClr val="FFFFFF"/>
                </a:solidFill>
                <a:latin typeface="Georgia"/>
              </a:rPr>
              <a:t>“Ask one assistant about your plant — it checks every system for you.”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50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TALK 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16168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Head of Digital · Plant CIO · Maintenance / Operations Head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5623560"/>
            <a:ext cx="5376672" cy="749808"/>
          </a:xfrm>
          <a:prstGeom prst="rect">
            <a:avLst/>
          </a:prstGeom>
          <a:solidFill>
            <a:srgbClr val="F6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669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87610F"/>
                </a:solidFill>
                <a:latin typeface="Calibri"/>
              </a:rPr>
              <a:t>BE CAREFUL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925312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151A17"/>
                </a:solidFill>
                <a:latin typeface="Calibri"/>
              </a:rPr>
              <a:t>No AI control of machinery. Machine systems often lack modern APIs — check early.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 F · HOW SUTR IS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Hospitals &amp; healthcare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329184"/>
            <a:ext cx="1399032" cy="274320"/>
          </a:xfrm>
          <a:prstGeom prst="roundRect">
            <a:avLst>
              <a:gd name="adj" fmla="val 20000"/>
            </a:avLst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36118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95382A"/>
                </a:solidFill>
                <a:latin typeface="Calibri"/>
              </a:rPr>
              <a:t>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THEY 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51A17"/>
                </a:solidFill>
                <a:latin typeface="Calibri"/>
              </a:rPr>
              <a:t>Hospitals, hospital chains and diagnostic centres.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THEIR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5394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Information sits in separate systems — hospital software, appointments, billing, insurance, lab</a:t>
            </a:r>
          </a:p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Admin staff lose hours switching between screens</a:t>
            </a:r>
          </a:p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Patient data is extremely sensitive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81328"/>
            <a:ext cx="5376672" cy="3017520"/>
          </a:xfrm>
          <a:prstGeom prst="rect">
            <a:avLst/>
          </a:prstGeom>
          <a:solidFill>
            <a:srgbClr val="E3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184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DOES 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3852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Buys Sutr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38528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The hospital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4602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Runs Sutr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446020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Hospital IT, or ESDS as managed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5351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Systems connected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953512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Hospital information system, appointments, billing, insurance,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61004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Uses the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461004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Front desk, admin, billing &amp; insurance desk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68496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Runs 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968496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Hospital servers or ESDS private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902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IT WORKS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4944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Connect hospital system APIs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62706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9010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09010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6210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Each tool shows only the fields that task needs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6772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23076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3076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0276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Admin actions wait for approval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90838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137142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7142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4342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Every access recorded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 F · WHY THEY 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Hospitals &amp; healthcare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329184"/>
            <a:ext cx="1399032" cy="274320"/>
          </a:xfrm>
          <a:prstGeom prst="roundRect">
            <a:avLst>
              <a:gd name="adj" fmla="val 20000"/>
            </a:avLst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36118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95382A"/>
                </a:solidFill>
                <a:latin typeface="Calibri"/>
              </a:rPr>
              <a:t>LATER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WHAT THEY CAN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Daily summary of appointments and cancellations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Answer patients' appointment and insurance status questions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Find claims missing documents; create follow-ups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WHY THEY 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Less admin time for staff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AI sees only the patient data a task needs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Works on top of existing hospital software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ESDS EARNS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Subscription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Private hosting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Setup services with the hospital's software vendor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36592"/>
            <a:ext cx="11091672" cy="77724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36592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1">
                <a:solidFill>
                  <a:srgbClr val="FFFFFF"/>
                </a:solidFill>
                <a:latin typeface="Georgia"/>
              </a:rPr>
              <a:t>“Less screen-switching for hospital staff — with patient data kept under control.”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50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TALK 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16168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CIO / Hospital IT Head · Digital Health Head · Operations Head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5623560"/>
            <a:ext cx="5376672" cy="749808"/>
          </a:xfrm>
          <a:prstGeom prst="rect">
            <a:avLst/>
          </a:prstGeom>
          <a:solidFill>
            <a:srgbClr val="F6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669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87610F"/>
                </a:solidFill>
                <a:latin typeface="Calibri"/>
              </a:rPr>
              <a:t>BE CAREFUL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925312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151A17"/>
                </a:solidFill>
                <a:latin typeface="Calibri"/>
              </a:rPr>
              <a:t>Admin work only at first — no medical decisions. Many hospital systems have limited APIs.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 G · HOW SUTR IS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Logistics &amp; supply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329184"/>
            <a:ext cx="1399032" cy="274320"/>
          </a:xfrm>
          <a:prstGeom prst="roundRect">
            <a:avLst>
              <a:gd name="adj" fmla="val 20000"/>
            </a:avLst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36118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95382A"/>
                </a:solidFill>
                <a:latin typeface="Calibri"/>
              </a:rPr>
              <a:t>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THEY 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51A17"/>
                </a:solidFill>
                <a:latin typeface="Calibri"/>
              </a:rPr>
              <a:t>Transport, courier, warehousing and supply-chain companies.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THEIR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5394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Shipment, truck, warehouse and partner data live in different systems</a:t>
            </a:r>
          </a:p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“Where is my shipment?” calls take staff time</a:t>
            </a:r>
          </a:p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Partner carriers change their APIs, silently breaking connections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81328"/>
            <a:ext cx="5376672" cy="3017520"/>
          </a:xfrm>
          <a:prstGeom prst="rect">
            <a:avLst/>
          </a:prstGeom>
          <a:solidFill>
            <a:srgbClr val="E3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184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DOES 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3852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Buys Sutr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38528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The logistics company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4602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Runs Sutr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446020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Company IT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5351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Systems connected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953512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Transport &amp; warehouse systems, fleet tracking, partner carrier APIs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61004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Uses the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461004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Operations control room, customer service, warehouse supervisors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68496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Runs 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968496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ESDS cloud or company's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902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IT WORKS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4944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Connect own and partner APIs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62706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9010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09010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6210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AI looks up shipments, trucks and stock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6772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23076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3076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0276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Customer messages and service requests need approval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90838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137142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7142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4342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Sutr warns when a partner's API changes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 G · WHY THEY 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Logistics &amp; supply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329184"/>
            <a:ext cx="1399032" cy="274320"/>
          </a:xfrm>
          <a:prstGeom prst="roundRect">
            <a:avLst>
              <a:gd name="adj" fmla="val 20000"/>
            </a:avLst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36118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95382A"/>
                </a:solidFill>
                <a:latin typeface="Calibri"/>
              </a:rPr>
              <a:t>LATER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WHAT THEY CAN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Find delayed shipments; draft customer updates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Trucks with maintenance alerts → service request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Warehouse stock mismatches and pending tasks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WHY THEY 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One place to ask across every system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Delays handled faster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Early warning before a partner change breaks things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ESDS EARNS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Subscription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Cloud hosting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Setup services for partner connections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36592"/>
            <a:ext cx="11091672" cy="77724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36592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1">
                <a:solidFill>
                  <a:srgbClr val="FFFFFF"/>
                </a:solidFill>
                <a:latin typeface="Georgia"/>
              </a:rPr>
              <a:t>“One assistant that knows where every shipment, truck and box is.”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50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TALK 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16168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CTO / CIO · Head of Operations · Head of Customer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5623560"/>
            <a:ext cx="5376672" cy="749808"/>
          </a:xfrm>
          <a:prstGeom prst="rect">
            <a:avLst/>
          </a:prstGeom>
          <a:solidFill>
            <a:srgbClr val="F6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669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87610F"/>
                </a:solidFill>
                <a:latin typeface="Calibri"/>
              </a:rPr>
              <a:t>BE CAREFUL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925312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151A17"/>
                </a:solidFill>
                <a:latin typeface="Calibri"/>
              </a:rPr>
              <a:t>Change warnings only work when partners publish their API description files.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 H · HOW SUTR IS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Retail &amp; e-commerce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329184"/>
            <a:ext cx="1399032" cy="274320"/>
          </a:xfrm>
          <a:prstGeom prst="roundRect">
            <a:avLst>
              <a:gd name="adj" fmla="val 20000"/>
            </a:avLst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36118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95382A"/>
                </a:solidFill>
                <a:latin typeface="Calibri"/>
              </a:rPr>
              <a:t>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THEY 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51A17"/>
                </a:solidFill>
                <a:latin typeface="Calibri"/>
              </a:rPr>
              <a:t>Online and store retailers and direct-to-consumer brands.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THEIR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5394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Orders, stock, payments, delivery and support sit in different tools</a:t>
            </a:r>
          </a:p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New tools get added often</a:t>
            </a:r>
          </a:p>
          <a:p>
            <a:pPr algn="l" marL="201168" indent="-201168">
              <a:lnSpc>
                <a:spcPct val="108000"/>
              </a:lnSpc>
              <a:spcAft>
                <a:spcPts val="600"/>
              </a:spcAft>
              <a:buClr>
                <a:srgbClr val="14584A"/>
              </a:buClr>
              <a:buChar char="•"/>
            </a:pPr>
            <a:r>
              <a:rPr sz="1400" b="0" i="0">
                <a:solidFill>
                  <a:srgbClr val="3C4640"/>
                </a:solidFill>
                <a:latin typeface="Calibri"/>
              </a:rPr>
              <a:t>Support teams are flooded with “where is my order?”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81328"/>
            <a:ext cx="5376672" cy="3017520"/>
          </a:xfrm>
          <a:prstGeom prst="rect">
            <a:avLst/>
          </a:prstGeom>
          <a:solidFill>
            <a:srgbClr val="E3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184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DOES 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3852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Buys Sutr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38528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The retailer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4602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Runs Sutr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446020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Tech / digital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5351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Systems connected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953512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Store platform, orders, inventory, payments, support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61004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Uses the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461004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Support agents, operations,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68496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4584A"/>
                </a:solidFill>
                <a:latin typeface="Calibri"/>
              </a:rPr>
              <a:t>Runs 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968496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ESDS cloud or any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902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IT WORKS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4944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Switch on ready-made connections (48 available, e.g. Stripe, Square, Intercom)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62706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9010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09010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6210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Add in-house systems through their API files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6772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23076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3076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0276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Refunds and escalations need approval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90838" y="4919472"/>
            <a:ext cx="264947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137142" y="5065775"/>
            <a:ext cx="347472" cy="347472"/>
          </a:xfrm>
          <a:prstGeom prst="ellipse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7142" y="51160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4342" y="5047488"/>
            <a:ext cx="191795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51A17"/>
                </a:solidFill>
                <a:latin typeface="Calibri"/>
              </a:rPr>
              <a:t>Support AI answers order questions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SECTOR H · WHY THEY 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Retail &amp; e-commerce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329184"/>
            <a:ext cx="1399032" cy="274320"/>
          </a:xfrm>
          <a:prstGeom prst="roundRect">
            <a:avLst>
              <a:gd name="adj" fmla="val 20000"/>
            </a:avLst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36118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95382A"/>
                </a:solidFill>
                <a:latin typeface="Calibri"/>
              </a:rPr>
              <a:t>LATER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WHAT THEY CAN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Order status, delay reason and a drafted reply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Low stock across warehouses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Delayed orders turned into escalations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WHY THEY 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Adding a new tool is setup, not a project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Faster support replies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Refunds stay under human approval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50876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664208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ESDS EARNS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29968"/>
            <a:ext cx="311810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Subscription (smaller deals, more customers)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Cloud hosting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14584A"/>
              </a:buClr>
              <a:buChar char="•"/>
            </a:pPr>
            <a:r>
              <a:rPr sz="1450" b="0" i="0">
                <a:solidFill>
                  <a:srgbClr val="151A17"/>
                </a:solidFill>
                <a:latin typeface="Calibri"/>
              </a:rPr>
              <a:t>Usage charges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36592"/>
            <a:ext cx="11091672" cy="77724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36592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1">
                <a:solidFill>
                  <a:srgbClr val="FFFFFF"/>
                </a:solidFill>
                <a:latin typeface="Georgia"/>
              </a:rPr>
              <a:t>“Your support team gets an assistant that sees every order system.”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50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TALK 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16168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51A17"/>
                </a:solidFill>
                <a:latin typeface="Calibri"/>
              </a:rPr>
              <a:t>CTO · Head of Digital / E-commerce · Head of Customer Experience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5623560"/>
            <a:ext cx="5376672" cy="749808"/>
          </a:xfrm>
          <a:prstGeom prst="rect">
            <a:avLst/>
          </a:prstGeom>
          <a:solidFill>
            <a:srgbClr val="F6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669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87610F"/>
                </a:solidFill>
                <a:latin typeface="Calibri"/>
              </a:rPr>
              <a:t>BE CAREFUL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925312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151A17"/>
                </a:solidFill>
                <a:latin typeface="Calibri"/>
              </a:rPr>
              <a:t>Smaller deal sizes — sell a standard package, not custom projects.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COMING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The ML engineering agent — where Sutr 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51A17"/>
                </a:solidFill>
                <a:latin typeface="Georgia"/>
              </a:rPr>
              <a:t>ESDS is building an AI agent that writes and runs machine-learning work. </a:t>
            </a:r>
            <a:r>
              <a:rPr sz="1900" b="1" i="0">
                <a:solidFill>
                  <a:srgbClr val="14584A"/>
                </a:solidFill>
                <a:latin typeface="Georgia"/>
              </a:rPr>
              <a:t>Sutr is how that agent safely reaches a customer's data and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79192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WHAT THE AGENT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3118104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14584A"/>
              </a:buClr>
              <a:buChar char="•"/>
            </a:pPr>
            <a:r>
              <a:rPr sz="1500" b="0" i="0">
                <a:solidFill>
                  <a:srgbClr val="151A17"/>
                </a:solidFill>
                <a:latin typeface="Calibri"/>
              </a:rPr>
              <a:t>Company data (warehouse, storage)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14584A"/>
              </a:buClr>
              <a:buChar char="•"/>
            </a:pPr>
            <a:r>
              <a:rPr sz="1500" b="0" i="0">
                <a:solidFill>
                  <a:srgbClr val="151A17"/>
                </a:solidFill>
                <a:latin typeface="Calibri"/>
              </a:rPr>
              <a:t>GPUs to train models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14584A"/>
              </a:buClr>
              <a:buChar char="•"/>
            </a:pPr>
            <a:r>
              <a:rPr sz="1500" b="0" i="0">
                <a:solidFill>
                  <a:srgbClr val="151A17"/>
                </a:solidFill>
                <a:latin typeface="Calibri"/>
              </a:rPr>
              <a:t>Experiment tracking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14584A"/>
              </a:buClr>
              <a:buChar char="•"/>
            </a:pPr>
            <a:r>
              <a:rPr sz="1500" b="0" i="0">
                <a:solidFill>
                  <a:srgbClr val="151A17"/>
                </a:solidFill>
                <a:latin typeface="Calibri"/>
              </a:rPr>
              <a:t>A way to put models live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6824" y="251460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679192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HOW SUTR HELPS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063240"/>
            <a:ext cx="3118104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14584A"/>
              </a:buClr>
              <a:buChar char="•"/>
            </a:pPr>
            <a:r>
              <a:rPr sz="1500" b="0" i="0">
                <a:solidFill>
                  <a:srgbClr val="151A17"/>
                </a:solidFill>
                <a:latin typeface="Calibri"/>
              </a:rPr>
              <a:t>Agent reaches all of it through Sutr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14584A"/>
              </a:buClr>
              <a:buChar char="•"/>
            </a:pPr>
            <a:r>
              <a:rPr sz="1500" b="0" i="0">
                <a:solidFill>
                  <a:srgbClr val="151A17"/>
                </a:solidFill>
                <a:latin typeface="Calibri"/>
              </a:rPr>
              <a:t>Never holds any password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14584A"/>
              </a:buClr>
              <a:buChar char="•"/>
            </a:pPr>
            <a:r>
              <a:rPr sz="1500" b="0" i="0">
                <a:solidFill>
                  <a:srgbClr val="151A17"/>
                </a:solidFill>
                <a:latin typeface="Calibri"/>
              </a:rPr>
              <a:t>GPU booking and going live need approval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14584A"/>
              </a:buClr>
              <a:buChar char="•"/>
            </a:pPr>
            <a:r>
              <a:rPr sz="1500" b="0" i="0">
                <a:solidFill>
                  <a:srgbClr val="151A17"/>
                </a:solidFill>
                <a:latin typeface="Calibri"/>
              </a:rPr>
              <a:t>Every step recorded — which data built which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2514600"/>
            <a:ext cx="357530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679192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WHO BUYS · HOW ESDS EARNS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063240"/>
            <a:ext cx="3118104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14584A"/>
              </a:buClr>
              <a:buChar char="•"/>
            </a:pPr>
            <a:r>
              <a:rPr sz="1500" b="0" i="0">
                <a:solidFill>
                  <a:srgbClr val="151A17"/>
                </a:solidFill>
                <a:latin typeface="Calibri"/>
              </a:rPr>
              <a:t>Companies with data-science teams: banks, insurers, telecom, manufacturing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14584A"/>
              </a:buClr>
              <a:buChar char="•"/>
            </a:pPr>
            <a:r>
              <a:rPr sz="1500" b="0" i="0">
                <a:solidFill>
                  <a:srgbClr val="151A17"/>
                </a:solidFill>
                <a:latin typeface="Calibri"/>
              </a:rPr>
              <a:t>Agent seats + ESDS GPU hours + Sutr — one ESDS bill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42432"/>
            <a:ext cx="11091672" cy="548640"/>
          </a:xfrm>
          <a:prstGeom prst="rect">
            <a:avLst/>
          </a:prstGeom>
          <a:solidFill>
            <a:srgbClr val="F6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74243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87610F"/>
                </a:solidFill>
                <a:latin typeface="Calibri"/>
              </a:rPr>
              <a:t>Still in development — present it as the roadmap, not as a product available today.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4584A"/>
                </a:solidFill>
                <a:latin typeface="Calibri"/>
              </a:rPr>
              <a:t>USING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0" i="0">
                <a:solidFill>
                  <a:srgbClr val="151A17"/>
                </a:solidFill>
                <a:latin typeface="Georgia"/>
              </a:rPr>
              <a:t>Starting a conversation with any customer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5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6C766F"/>
                </a:solidFill>
                <a:latin typeface="Calibri"/>
              </a:rPr>
              <a:t>Sutr · business explained simply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11091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64008" cy="77724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00200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51A17"/>
                </a:solidFill>
                <a:latin typeface="Georgia"/>
              </a:rPr>
              <a:t>Which systems do your staff switch between all day?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600200"/>
            <a:ext cx="2788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350" b="0" i="1">
                <a:solidFill>
                  <a:srgbClr val="6C766F"/>
                </a:solidFill>
                <a:latin typeface="Calibri"/>
              </a:rPr>
              <a:t>Finds the use 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14600"/>
            <a:ext cx="11091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514600"/>
            <a:ext cx="64008" cy="77724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14600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51A17"/>
                </a:solidFill>
                <a:latin typeface="Georgia"/>
              </a:rPr>
              <a:t>Do those systems have APIs, and do you have their documentation?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14600"/>
            <a:ext cx="2788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350" b="0" i="1">
                <a:solidFill>
                  <a:srgbClr val="6C766F"/>
                </a:solidFill>
                <a:latin typeface="Calibri"/>
              </a:rPr>
              <a:t>Checks Sutr can connect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91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64008" cy="77724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51A17"/>
                </a:solidFill>
                <a:latin typeface="Georgia"/>
              </a:rPr>
              <a:t>Is anyone already trying AI assistants? What stopped them?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429000"/>
            <a:ext cx="2788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350" b="0" i="1">
                <a:solidFill>
                  <a:srgbClr val="6C766F"/>
                </a:solidFill>
                <a:latin typeface="Calibri"/>
              </a:rPr>
              <a:t>Finds the champion and the blocker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43400"/>
            <a:ext cx="11091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343400"/>
            <a:ext cx="64008" cy="77724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43400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51A17"/>
                </a:solidFill>
                <a:latin typeface="Georgia"/>
              </a:rPr>
              <a:t>Who would need to approve an AI taking actions — security, audit, operations?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343400"/>
            <a:ext cx="2788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350" b="0" i="1">
                <a:solidFill>
                  <a:srgbClr val="6C766F"/>
                </a:solidFill>
                <a:latin typeface="Calibri"/>
              </a:rPr>
              <a:t>Maps the buyers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57800"/>
            <a:ext cx="11091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257800"/>
            <a:ext cx="64008" cy="77724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257800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51A17"/>
                </a:solidFill>
                <a:latin typeface="Georgia"/>
              </a:rPr>
              <a:t>Where must the data stay — your data centre, a private cloud, India only?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257800"/>
            <a:ext cx="2788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350" b="0" i="1">
                <a:solidFill>
                  <a:srgbClr val="6C766F"/>
                </a:solidFill>
                <a:latin typeface="Calibri"/>
              </a:rPr>
              <a:t>Decides hosting — and the ESDS angle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